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Instances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6D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Low load
(CPU&lt;20%)</c:v>
                  </c:pt>
                  <c:pt idx="1">
                    <c:v>Normal
(CPU 20-60%)</c:v>
                  </c:pt>
                  <c:pt idx="2">
                    <c:v>High load
(CPU&gt;60%)</c:v>
                  </c:pt>
                  <c:pt idx="3">
                    <c:v>Peak
(CPU&gt;80%)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16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73152"/>
            <a:ext cx="2560320" cy="50703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73152"/>
            <a:ext cx="1645920" cy="507034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365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365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365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365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11887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11887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11887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0" y="11887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20116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040" y="20116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20116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20116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8346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28346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28346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28346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36576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0" y="36576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36576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36576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8229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ElderPinq</a:t>
            </a:r>
            <a:endParaRPr lang="en-US" sz="5200" dirty="0"/>
          </a:p>
        </p:txBody>
      </p:sp>
      <p:sp>
        <p:nvSpPr>
          <p:cNvPr id="26" name="Text 24"/>
          <p:cNvSpPr/>
          <p:nvPr/>
        </p:nvSpPr>
        <p:spPr>
          <a:xfrm>
            <a:off x="457200" y="16002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Production Infrastructure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57200" y="2240280"/>
            <a:ext cx="109728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3774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cloud-native deployment of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elderly care platform on AWS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132588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5204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A5F5"/>
                </a:solidFill>
              </a:rPr>
              <a:t>Docker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20240" y="3520440"/>
            <a:ext cx="132588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35204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A5F5"/>
                </a:solidFill>
              </a:rPr>
              <a:t>ECR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83280" y="3520440"/>
            <a:ext cx="132588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5204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A5F5"/>
                </a:solidFill>
              </a:rPr>
              <a:t>VPC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520440"/>
            <a:ext cx="132588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5204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A5F5"/>
                </a:solidFill>
              </a:rPr>
              <a:t>ALB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959352"/>
            <a:ext cx="132588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9593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A5F5"/>
                </a:solidFill>
              </a:rPr>
              <a:t>ASG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920240" y="3959352"/>
            <a:ext cx="132588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20240" y="39593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A5F5"/>
                </a:solidFill>
              </a:rPr>
              <a:t>RDS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83280" y="3959352"/>
            <a:ext cx="132588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39593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A5F5"/>
                </a:solidFill>
              </a:rPr>
              <a:t>CloudWatch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46320" y="3959352"/>
            <a:ext cx="132588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9593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A5F5"/>
                </a:solidFill>
              </a:rPr>
              <a:t>Route 53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CEFF1"/>
                </a:solidFill>
              </a:rPr>
              <a:t>May 2026  |  AWS Architecture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206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50292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307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microservices, Docker, ECR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4206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868680"/>
            <a:ext cx="502920" cy="8686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686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94960" y="960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&amp; Networking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1307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Subnets, IGW, NAT, Security Groups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874520"/>
            <a:ext cx="4206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874520"/>
            <a:ext cx="502920" cy="86868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745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19659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3134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ALB, Internal ALB, routing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1874520"/>
            <a:ext cx="4206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874520"/>
            <a:ext cx="502920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8745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94960" y="19659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23134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Template, AMI, scaling policies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880360"/>
            <a:ext cx="4206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880360"/>
            <a:ext cx="502920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8803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0120" y="29718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&amp; VPC Peering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319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PostgreSQL, cross-VPC access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880360"/>
            <a:ext cx="4206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2880360"/>
            <a:ext cx="502920" cy="8686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8803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94960" y="29718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&amp; Route 53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4960" y="3319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DNS, SSL/TLS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886200"/>
            <a:ext cx="4206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886200"/>
            <a:ext cx="50292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8862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60120" y="3977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&amp; Host-Based Routing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60120" y="43251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listener rules, subdomains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3886200"/>
            <a:ext cx="4206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886200"/>
            <a:ext cx="502920" cy="8686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8862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08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394960" y="3977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94960" y="43251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request flow diagram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ElderPinq — Application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3200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777240"/>
            <a:ext cx="32004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is ElderPinq?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2926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elderly care support platform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Secure authentication for elders &amp; family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health check-ins &amp; vitals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reminder management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alert &amp; notification system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frontend via nginx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03320" y="777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Microservices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03320" y="1188720"/>
            <a:ext cx="51206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03320" y="1188720"/>
            <a:ext cx="73152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8768" y="1243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ui-service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58768" y="14996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nginx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23760" y="1325880"/>
            <a:ext cx="146304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1325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 :8080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03320" y="1874520"/>
            <a:ext cx="51206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03320" y="1874520"/>
            <a:ext cx="73152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1929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auth-service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58768" y="2185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users_db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0" y="2011680"/>
            <a:ext cx="1463040" cy="2926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 :3001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03320" y="2560320"/>
            <a:ext cx="51206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03320" y="2560320"/>
            <a:ext cx="73152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58768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health-service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58768" y="28712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+ health_db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2697480"/>
            <a:ext cx="146304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2697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 :3002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03320" y="3246120"/>
            <a:ext cx="51206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03320" y="3246120"/>
            <a:ext cx="73152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58768" y="3300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reminder-service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58768" y="35570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 + reminder_db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23760" y="3383280"/>
            <a:ext cx="146304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33832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 :3003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03320" y="3931920"/>
            <a:ext cx="51206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03320" y="3931920"/>
            <a:ext cx="73152" cy="59436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58768" y="3986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alert-service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58768" y="4242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alert_db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23760" y="4069080"/>
            <a:ext cx="1463040" cy="29260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4069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 :3004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703320" y="4599432"/>
            <a:ext cx="512064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3320" y="45994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2A5F5"/>
                </a:solidFill>
              </a:rPr>
              <a:t>Orchestrated via docker-compose.yml  |  PostgreSQL per service  |  elderping-network bridge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VPC &amp; Networking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383280" y="749808"/>
            <a:ext cx="2377440" cy="384048"/>
          </a:xfrm>
          <a:prstGeom prst="rect">
            <a:avLst/>
          </a:prstGeom>
          <a:solidFill>
            <a:srgbClr val="B0BEC5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83280" y="7498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🌐  Internet / Users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0" y="1133856"/>
            <a:ext cx="0" cy="256032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89888"/>
            <a:ext cx="8595360" cy="3566160"/>
          </a:xfrm>
          <a:prstGeom prst="rect">
            <a:avLst/>
          </a:prstGeom>
          <a:solidFill>
            <a:srgbClr val="EBF0F8"/>
          </a:solidFill>
          <a:ln w="19050">
            <a:solidFill>
              <a:srgbClr val="1565C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47472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VPC  10.0.0.0/16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82496"/>
            <a:ext cx="8229600" cy="1115568"/>
          </a:xfrm>
          <a:prstGeom prst="rect">
            <a:avLst/>
          </a:prstGeom>
          <a:solidFill>
            <a:srgbClr val="D4E6F1"/>
          </a:solidFill>
          <a:ln w="10160">
            <a:solidFill>
              <a:srgbClr val="2E86A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17099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</a:rPr>
              <a:t>Public Subnets  (us-east-1a  /  us-east-1b)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49040" y="1938528"/>
            <a:ext cx="1645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9385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Internet Gateway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938528"/>
            <a:ext cx="155448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9385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NAT Gateway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+ Elastic IP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23160" y="1938528"/>
            <a:ext cx="1188720" cy="5029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9385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Internet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938528"/>
            <a:ext cx="1188720" cy="50292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9385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Bastion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89504"/>
            <a:ext cx="8229600" cy="1188720"/>
          </a:xfrm>
          <a:prstGeom prst="rect">
            <a:avLst/>
          </a:prstGeom>
          <a:solidFill>
            <a:srgbClr val="D5E8D4"/>
          </a:solidFill>
          <a:ln w="10160">
            <a:solidFill>
              <a:srgbClr val="27AE6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48640" y="29169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8449"/>
                </a:solidFill>
              </a:rPr>
              <a:t>Private Subnets  (us-east-1a  /  us-east-1b)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3145536"/>
            <a:ext cx="18288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4553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EC2  (UI ASG)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docker-compose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51760" y="3145536"/>
            <a:ext cx="210312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314553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EC2  (Backend ASG)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autoscaling group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3145536"/>
            <a:ext cx="1645920" cy="65836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14553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</a:rPr>
              <a:t>Default VPC (172.31.0.0/16)  —  RDS PostgreSQL  |  VPC Peering Connection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0" y="3886200"/>
            <a:ext cx="0" cy="685800"/>
          </a:xfrm>
          <a:prstGeom prst="line">
            <a:avLst/>
          </a:prstGeom>
          <a:noFill/>
          <a:ln w="19050">
            <a:solidFill>
              <a:srgbClr val="E6510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766560" y="31455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Security Groups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3401568"/>
            <a:ext cx="109728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12864" y="3401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alb-sg: 80, 8080 from 0.0.0.0/0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766560" y="3675888"/>
            <a:ext cx="109728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3675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ec2-sg: 8080/3001-3004 from ALB SGs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766560" y="3950208"/>
            <a:ext cx="109728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12864" y="39502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rds-sg: 5432 from ec2-sg only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Application Load Balancers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41605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777240"/>
            <a:ext cx="416052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Internet-Facing ALB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43584"/>
            <a:ext cx="12801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435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Scheme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37360" y="1280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Internet-facing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700784"/>
            <a:ext cx="12801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007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Ports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37360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HTTP :8080  →  HTTPS :443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157984"/>
            <a:ext cx="12801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1579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Subnets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37360" y="2194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public-1a + public-1b (Multi-AZ)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615184"/>
            <a:ext cx="12801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151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Security Grp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37360" y="2651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elderpinq-alb-sg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072384"/>
            <a:ext cx="12801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723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Target Group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737360" y="3108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elderpinq-ui-tg  (port 8080)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529584"/>
            <a:ext cx="12801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295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Health Check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737360" y="3566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GET /  →  HTTP 200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777240"/>
            <a:ext cx="41605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777240"/>
            <a:ext cx="416052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7772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Internal ALB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1216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Target Groups &amp; Health Checks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536192"/>
            <a:ext cx="3931920" cy="566928"/>
          </a:xfrm>
          <a:prstGeom prst="rect">
            <a:avLst/>
          </a:prstGeom>
          <a:solidFill>
            <a:srgbClr val="F0F4F8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536192"/>
            <a:ext cx="73152" cy="56692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15910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elderpinq-auth-tg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82896" y="18105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Port 3001  |  Health: GET /health → 200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221992"/>
            <a:ext cx="3931920" cy="566928"/>
          </a:xfrm>
          <a:prstGeom prst="rect">
            <a:avLst/>
          </a:prstGeom>
          <a:solidFill>
            <a:srgbClr val="F0F4F8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221992"/>
            <a:ext cx="73152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82896" y="22768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elderpinq-health-tg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82896" y="24963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Port 3002  |  Health: GET /health → 200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2907792"/>
            <a:ext cx="3931920" cy="566928"/>
          </a:xfrm>
          <a:prstGeom prst="rect">
            <a:avLst/>
          </a:prstGeom>
          <a:solidFill>
            <a:srgbClr val="F0F4F8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907792"/>
            <a:ext cx="73152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29626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elderpinq-reminder-tg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82896" y="31821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Port 3003  |  Health: GET /health → 200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593592"/>
            <a:ext cx="3931920" cy="566928"/>
          </a:xfrm>
          <a:prstGeom prst="rect">
            <a:avLst/>
          </a:prstGeom>
          <a:solidFill>
            <a:srgbClr val="F0F4F8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593592"/>
            <a:ext cx="73152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36484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elderpinq-alert-tg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82896" y="38679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Port 3004  |  Health: GET /health → 200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solidFill>
            <a:srgbClr val="132944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A5F5"/>
                </a:solidFill>
              </a:rPr>
              <a:t>Both ALBs span 2 Availability Zones — if one AZ fails, the other continues serving traffic  |  Health check grace period: 300s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Launch Template &amp; Auto Scaling Groups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25603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777240"/>
            <a:ext cx="25603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ElderPinq AMI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✓  Ubuntu 24 LTS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✓  Docker + Docker Compose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007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✓  AWS CLI installed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✓  App repo cloned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✓  docker-compose.yml with 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80360" y="1664208"/>
            <a:ext cx="41148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777240"/>
            <a:ext cx="25603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777240"/>
            <a:ext cx="25603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Launch Template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11887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✓  Instance: t3.medium (2vCPU/4GB)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14447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✓  Key pair + ec2-sg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17007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✓  IAM role attached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1956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✓  User data script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21284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✓  ECR + CloudWatch + SSM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1664208"/>
            <a:ext cx="41148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777240"/>
            <a:ext cx="25603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777240"/>
            <a:ext cx="256032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 Scaling Group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11887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✓  UI ASG: min 1 / des 2 / max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14447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✓  Backend ASG: min 1 / des 2 / max 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17007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✓  Scale out: CPU &gt; 60%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1956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✓  Scale in: CPU &lt; 20%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21284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✓  Health check grace: 300s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926080"/>
            <a:ext cx="4160520" cy="1097280"/>
          </a:xfrm>
          <a:prstGeom prst="rect">
            <a:avLst/>
          </a:prstGeom>
          <a:solidFill>
            <a:srgbClr val="FFF8E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926080"/>
            <a:ext cx="4160520" cy="31089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92608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IAM Role — elderpinq-ec2-role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310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•  AmazonEC2ContainerRegistryReadOnly → pull images from ECR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35295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•  CloudWatchAgentServerPolicy → ship metrics &amp; logs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37490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•  AmazonSSMManagedInstanceCore → SSH via Session Manager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926080"/>
            <a:ext cx="4160520" cy="1097280"/>
          </a:xfrm>
          <a:prstGeom prst="rect">
            <a:avLst/>
          </a:prstGeom>
          <a:solidFill>
            <a:srgbClr val="E8F5E9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926080"/>
            <a:ext cx="416052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92608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Data — Boot Sequence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3310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1. Boot from AMI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00600" y="35295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2. docker-compose pull (ECR / Docker Hub)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00600" y="37490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3. docker-compose up -d (all 5 services)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00600" y="39684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4. CloudWatch agent starts → metrics &amp; logs</a:t>
            </a:r>
            <a:endParaRPr lang="en-US" sz="95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320040" y="4114800"/>
          <a:ext cx="8503920" cy="868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RDS PostgreSQL &amp; VPC Peering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274320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777240"/>
            <a:ext cx="274320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RDS?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109728" cy="27432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</a:rPr>
              <a:t>Data lost if EC2 terminates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618488"/>
            <a:ext cx="109728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18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20"/>
                </a:solidFill>
              </a:rPr>
              <a:t>Persistent EBS-backed storage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002536"/>
            <a:ext cx="109728" cy="27432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02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</a:rPr>
              <a:t>Multiple app instances → split 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386584"/>
            <a:ext cx="109728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86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20"/>
                </a:solidFill>
              </a:rPr>
              <a:t>Single endpoint for all instances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770632"/>
            <a:ext cx="109728" cy="27432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70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</a:rPr>
              <a:t>Manual backups &amp; failover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154680"/>
            <a:ext cx="109728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20"/>
                </a:solidFill>
              </a:rPr>
              <a:t>Automated backups + Multi-AZ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538728"/>
            <a:ext cx="109728" cy="27432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38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</a:rPr>
              <a:t>No replication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922776"/>
            <a:ext cx="109728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227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20"/>
                </a:solidFill>
              </a:rPr>
              <a:t>Sync standby replica in 2nd AZ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777240"/>
            <a:ext cx="557784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777240"/>
            <a:ext cx="55778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77724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VPC Peering Architecture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29000" y="1234440"/>
            <a:ext cx="2286000" cy="1645920"/>
          </a:xfrm>
          <a:prstGeom prst="rect">
            <a:avLst/>
          </a:prstGeom>
          <a:solidFill>
            <a:srgbClr val="EBF5FB"/>
          </a:solidFill>
          <a:ln w="15240">
            <a:solidFill>
              <a:srgbClr val="1565C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429000" y="1234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ElderPinq VPC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10.0.0.0/16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11880" y="1645920"/>
            <a:ext cx="18288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EC2 Private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10.0.3.x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760720" y="1737360"/>
            <a:ext cx="91440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Peering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pcx-xxx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12280" y="1234440"/>
            <a:ext cx="1828800" cy="1645920"/>
          </a:xfrm>
          <a:prstGeom prst="rect">
            <a:avLst/>
          </a:prstGeom>
          <a:solidFill>
            <a:srgbClr val="FFFDE7"/>
          </a:solidFill>
          <a:ln w="15240">
            <a:solidFill>
              <a:srgbClr val="E6510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812280" y="1234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</a:rPr>
              <a:t>Default VPC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</a:rPr>
              <a:t>172.31.0.0/16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49440" y="1664208"/>
            <a:ext cx="155448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16642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RDS Primary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172.31.32.x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40680" y="1892808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0" y="1892808"/>
            <a:ext cx="13716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29992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Route Table Changes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29000" y="3310128"/>
            <a:ext cx="5212080" cy="347472"/>
          </a:xfrm>
          <a:prstGeom prst="rect">
            <a:avLst/>
          </a:prstGeom>
          <a:solidFill>
            <a:srgbClr val="ECEFF1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33467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elderpinq-private-rt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03520" y="33467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172.31.0.0/16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37960" y="3346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→ pcx-peering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29000" y="3730752"/>
            <a:ext cx="5212080" cy="347472"/>
          </a:xfrm>
          <a:prstGeom prst="rect">
            <a:avLst/>
          </a:prstGeom>
          <a:solidFill>
            <a:srgbClr val="ECEFF1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0440" y="3767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</a:rPr>
              <a:t>default-VPC main-rt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03520" y="3767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10.0.0.0/16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537960" y="3767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→ pcx-peering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29000" y="4151376"/>
            <a:ext cx="5212080" cy="347472"/>
          </a:xfrm>
          <a:prstGeom prst="rect">
            <a:avLst/>
          </a:prstGeom>
          <a:solidFill>
            <a:srgbClr val="ECEFF1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20440" y="4187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32F2F"/>
                </a:solidFill>
              </a:rPr>
              <a:t>RDS security group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03520" y="4187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port 5432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537960" y="4187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from 10.0.0.0/16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429000" y="46177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4 Databases on RDS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429000" y="4864608"/>
            <a:ext cx="1234440" cy="2286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29000" y="48646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users_db  (auth)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27448" y="4864608"/>
            <a:ext cx="1234440" cy="2286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27448" y="48646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health_db  (health)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025896" y="4864608"/>
            <a:ext cx="1234440" cy="2286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25896" y="48646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reminder_db  (reminder)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324344" y="4864608"/>
            <a:ext cx="1234440" cy="2286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24344" y="48646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alert_db  (alert)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CloudWatch Monitoring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27432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777240"/>
            <a:ext cx="27432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Metrics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•  CPU usage (user/system/idle)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•  Memory used %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•  Disk used 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•  Collected every 60s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•  Namespace: ElderPinq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777240"/>
            <a:ext cx="27432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777240"/>
            <a:ext cx="2743200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•  /elderpinq/system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0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•  /elderpinq/auth-service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0" y="2057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•  /elderpinq/health-service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2468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•  /elderpinq/reminder-service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0" y="2880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•  /elderpinq/alert-service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777240"/>
            <a:ext cx="27432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777240"/>
            <a:ext cx="274320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Alarms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•  CPU &gt; 70% → Scale out ASG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9360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•  CPU &lt; 20% → Scale in ASG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2057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•  Memory &gt; 80% → SNS email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2468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•  Disk &gt; 85% → SNS email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023360"/>
            <a:ext cx="8503920" cy="1005840"/>
          </a:xfrm>
          <a:prstGeom prst="rect">
            <a:avLst/>
          </a:prstGeom>
          <a:solidFill>
            <a:srgbClr val="EBF5FB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4069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How CloudWatch Agent Works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370832"/>
            <a:ext cx="12801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70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EC2 Instance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645920" y="4553712"/>
            <a:ext cx="13716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83080" y="4370832"/>
            <a:ext cx="128016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83080" y="4370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CW Agent reads config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063240" y="4553712"/>
            <a:ext cx="13716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4370832"/>
            <a:ext cx="12801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4370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Collects CPU/Mem/Disk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480560" y="4553712"/>
            <a:ext cx="13716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4370832"/>
            <a:ext cx="128016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4370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Tails Docker logs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897880" y="4553712"/>
            <a:ext cx="13716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5040" y="4370832"/>
            <a:ext cx="12801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4370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Ships to CloudWatch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315200" y="4553712"/>
            <a:ext cx="13716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52360" y="4370832"/>
            <a:ext cx="128016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52360" y="4370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Dashboard + Alarms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3063240"/>
            <a:ext cx="8503920" cy="777240"/>
          </a:xfrm>
          <a:prstGeom prst="rect">
            <a:avLst/>
          </a:prstGeom>
          <a:solidFill>
            <a:srgbClr val="F3E5F5"/>
          </a:solidFill>
          <a:ln w="9525">
            <a:solidFill>
              <a:srgbClr val="9C27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10896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1B9A"/>
                </a:solidFill>
              </a:rPr>
              <a:t>Alarm Flow:  CloudWatch Alarm triggers  →  SNS Topic (elderpinq-alerts)  →  Email to on-call team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1B9A"/>
                </a:solidFill>
              </a:rPr>
              <a:t>Auto-Scaling:  CPU alarm triggers  →  ASG adds/removes EC2 instance  →  ALB redistributes traffic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53, SSL/TLS &amp; Path + Host-Based Routing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8503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22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DNS Resolution Flow  (GoDaddy → Route 53 → ALB)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280160" cy="65836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GoDaddy Domain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91640" y="1472184"/>
            <a:ext cx="13716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143000"/>
            <a:ext cx="128016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1430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NS → Route 53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08960" y="1472184"/>
            <a:ext cx="13716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143000"/>
            <a:ext cx="128016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1430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Hosted Zone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26280" y="1472184"/>
            <a:ext cx="13716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143000"/>
            <a:ext cx="1280160" cy="65836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1430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 Alias Record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1472184"/>
            <a:ext cx="13716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143000"/>
            <a:ext cx="128016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1430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Internet ALB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60920" y="1472184"/>
            <a:ext cx="13716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1143000"/>
            <a:ext cx="128016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11430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EC2 Instance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286000"/>
            <a:ext cx="411480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286000"/>
            <a:ext cx="411480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Host-Based Routing Rules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670048"/>
            <a:ext cx="1280160" cy="402336"/>
          </a:xfrm>
          <a:prstGeom prst="rect">
            <a:avLst/>
          </a:prstGeom>
          <a:solidFill>
            <a:srgbClr val="ECEFF1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70662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Host Header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91640" y="2670048"/>
            <a:ext cx="1280160" cy="402336"/>
          </a:xfrm>
          <a:prstGeom prst="rect">
            <a:avLst/>
          </a:prstGeom>
          <a:solidFill>
            <a:srgbClr val="ECEFF1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91640" y="270662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Routes To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17520" y="2670048"/>
            <a:ext cx="1280160" cy="402336"/>
          </a:xfrm>
          <a:prstGeom prst="rect">
            <a:avLst/>
          </a:prstGeom>
          <a:solidFill>
            <a:srgbClr val="ECEFF1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270662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Priority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145536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1821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app.elderpinq.com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691640" y="3145536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91640" y="31821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elderpinq-ui-tg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017520" y="3145536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0" y="31821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621024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657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api.elderpinq.com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691640" y="3621024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91640" y="3657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Internal ALB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017520" y="3621024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0" y="3657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2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4096512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1330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elderpinq.com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691640" y="4096512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91640" y="41330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elderpinq-ui-tg (default)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017520" y="4096512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41330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Last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17720" y="2286000"/>
            <a:ext cx="420624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17720" y="2286000"/>
            <a:ext cx="4206240" cy="3200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0" y="2286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Path-Based Routing Rules (Internal ALB)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09160" y="2688336"/>
            <a:ext cx="4023360" cy="420624"/>
          </a:xfrm>
          <a:prstGeom prst="rect">
            <a:avLst/>
          </a:prstGeom>
          <a:solidFill>
            <a:srgbClr val="F0F4F8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09160" y="2688336"/>
            <a:ext cx="73152" cy="42062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8032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/api/auth/*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93408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→  auth-service :3001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09160" y="3182112"/>
            <a:ext cx="4023360" cy="420624"/>
          </a:xfrm>
          <a:prstGeom prst="rect">
            <a:avLst/>
          </a:prstGeom>
          <a:solidFill>
            <a:srgbClr val="F0F4F8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709160" y="3182112"/>
            <a:ext cx="73152" cy="42062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/api/health/*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693408" y="3218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→  health-service :3002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09160" y="3675888"/>
            <a:ext cx="4023360" cy="420624"/>
          </a:xfrm>
          <a:prstGeom prst="rect">
            <a:avLst/>
          </a:prstGeom>
          <a:solidFill>
            <a:srgbClr val="F0F4F8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709160" y="3675888"/>
            <a:ext cx="73152" cy="42062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28032" y="3712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/api/reminders/*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693408" y="3712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→  reminder-service :3003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09160" y="4169664"/>
            <a:ext cx="4023360" cy="420624"/>
          </a:xfrm>
          <a:prstGeom prst="rect">
            <a:avLst/>
          </a:prstGeom>
          <a:solidFill>
            <a:srgbClr val="F0F4F8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709160" y="4169664"/>
            <a:ext cx="73152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28032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/api/alerts/*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693408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→  alert-service :3004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A5F5"/>
                </a:solidFill>
              </a:rPr>
              <a:t>ACM SSL Certificate: *.elderpinq.com  |  Auto-renewing  |  DNS validated via Route 53  |  Attached to HTTPS:443 listener  |  HTTP:8080 → 301 redirect to HTTPS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0" y="594360"/>
            <a:ext cx="2743200" cy="347472"/>
          </a:xfrm>
          <a:prstGeom prst="rect">
            <a:avLst/>
          </a:prstGeom>
          <a:solidFill>
            <a:srgbClr val="1C2E45"/>
          </a:solidFill>
          <a:ln w="12700">
            <a:solidFill>
              <a:srgbClr val="3D6B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594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BEC5"/>
                </a:solidFill>
              </a:rPr>
              <a:t>🌐  Users  +  GoDaddy Domain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0" y="941832"/>
            <a:ext cx="0" cy="201168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1143000"/>
            <a:ext cx="2194560" cy="347472"/>
          </a:xfrm>
          <a:prstGeom prst="rect">
            <a:avLst/>
          </a:prstGeom>
          <a:solidFill>
            <a:srgbClr val="162E4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143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2A5F5"/>
                </a:solidFill>
              </a:rPr>
              <a:t>Route 53  +  ACM (HTTPS)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490472"/>
            <a:ext cx="0" cy="201168"/>
          </a:xfrm>
          <a:prstGeom prst="line">
            <a:avLst/>
          </a:prstGeom>
          <a:noFill/>
          <a:ln w="12700">
            <a:solidFill>
              <a:srgbClr val="42A5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691640"/>
            <a:ext cx="877824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74320" y="17099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D6B9A"/>
                </a:solidFill>
              </a:rPr>
              <a:t>PUBLIC SUBNETS  (us-east-1a / 1b)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1188720" cy="3840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288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NAT GW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1828800"/>
            <a:ext cx="32918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Internet-Facing ALB  (port 443 / 8080)  Host-based routing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92240" y="1828800"/>
            <a:ext cx="1188720" cy="38404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8288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Bastion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2331720"/>
            <a:ext cx="0" cy="201168"/>
          </a:xfrm>
          <a:prstGeom prst="line">
            <a:avLst/>
          </a:prstGeom>
          <a:noFill/>
          <a:ln w="12700">
            <a:solidFill>
              <a:srgbClr val="42A5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2532888"/>
            <a:ext cx="8778240" cy="1600200"/>
          </a:xfrm>
          <a:prstGeom prst="rect">
            <a:avLst/>
          </a:prstGeom>
          <a:solidFill>
            <a:srgbClr val="0B1E10"/>
          </a:solidFill>
          <a:ln w="12700">
            <a:solidFill>
              <a:srgbClr val="1A4726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74320" y="25511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7D32"/>
                </a:solidFill>
              </a:rPr>
              <a:t>PRIVATE SUBNETS  (us-east-1a / 1b)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1645920" cy="1188720"/>
          </a:xfrm>
          <a:prstGeom prst="rect">
            <a:avLst/>
          </a:prstGeom>
          <a:solidFill>
            <a:srgbClr val="0D2844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432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A5F5"/>
                </a:solidFill>
              </a:rPr>
              <a:t>Internal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2A5F5"/>
                </a:solidFill>
              </a:rPr>
              <a:t>ALB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2A5F5"/>
                </a:solidFill>
              </a:rPr>
              <a:t>Path-based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2A5F5"/>
                </a:solidFill>
              </a:rPr>
              <a:t>routing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94560" y="2743200"/>
            <a:ext cx="5029200" cy="1188720"/>
          </a:xfrm>
          <a:prstGeom prst="rect">
            <a:avLst/>
          </a:prstGeom>
          <a:solidFill>
            <a:srgbClr val="0B221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276148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BB6A"/>
                </a:solidFill>
              </a:rPr>
              <a:t>EC2 Auto Scaling Group  (ElderPinq AMI  |  t3.medium  |  min 1 / max 6)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0" y="3017520"/>
            <a:ext cx="86868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01752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:8080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55264" y="3017520"/>
            <a:ext cx="868680" cy="7772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301752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auth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:3001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24528" y="3017520"/>
            <a:ext cx="86868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24528" y="301752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health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:3002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93792" y="3017520"/>
            <a:ext cx="86868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301752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remind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:3003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63056" y="3017520"/>
            <a:ext cx="868680" cy="7772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63056" y="301752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alert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:3004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315200" y="2743200"/>
            <a:ext cx="1463040" cy="1188720"/>
          </a:xfrm>
          <a:prstGeom prst="rect">
            <a:avLst/>
          </a:prstGeom>
          <a:solidFill>
            <a:srgbClr val="1A0E2A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27432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E93D8"/>
                </a:solidFill>
              </a:rPr>
              <a:t>Cloud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E93D8"/>
                </a:solidFill>
              </a:rPr>
              <a:t>Watch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E93D8"/>
                </a:solidFill>
              </a:rPr>
              <a:t>Metrics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E93D8"/>
                </a:solidFill>
              </a:rPr>
              <a:t>Logs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E93D8"/>
                </a:solidFill>
              </a:rPr>
              <a:t>Alarms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0" y="4160520"/>
            <a:ext cx="0" cy="228600"/>
          </a:xfrm>
          <a:prstGeom prst="line">
            <a:avLst/>
          </a:prstGeom>
          <a:noFill/>
          <a:ln w="12700">
            <a:solidFill>
              <a:srgbClr val="E6510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82880" y="4389120"/>
            <a:ext cx="8778240" cy="594360"/>
          </a:xfrm>
          <a:prstGeom prst="rect">
            <a:avLst/>
          </a:prstGeom>
          <a:solidFill>
            <a:srgbClr val="1A10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4074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A726"/>
                </a:solidFill>
              </a:rPr>
              <a:t>DEFAULT VPC (172.31.0.0/16)  via VPC Peering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65760" y="4617720"/>
            <a:ext cx="1600200" cy="292608"/>
          </a:xfrm>
          <a:prstGeom prst="rect">
            <a:avLst/>
          </a:prstGeom>
          <a:solidFill>
            <a:srgbClr val="3E20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617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A726"/>
                </a:solidFill>
              </a:rPr>
              <a:t>RDS Primary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A726"/>
                </a:solidFill>
              </a:rPr>
              <a:t>users_db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084832" y="4617720"/>
            <a:ext cx="1600200" cy="292608"/>
          </a:xfrm>
          <a:prstGeom prst="rect">
            <a:avLst/>
          </a:prstGeom>
          <a:solidFill>
            <a:srgbClr val="5D4037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84832" y="4617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A726"/>
                </a:solidFill>
              </a:rPr>
              <a:t>RDS Standby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A726"/>
                </a:solidFill>
              </a:rPr>
              <a:t>Multi-AZ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03904" y="4617720"/>
            <a:ext cx="1600200" cy="292608"/>
          </a:xfrm>
          <a:prstGeom prst="rect">
            <a:avLst/>
          </a:prstGeom>
          <a:solidFill>
            <a:srgbClr val="3E20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03904" y="4617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A726"/>
                </a:solidFill>
              </a:rPr>
              <a:t>health_db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522976" y="4617720"/>
            <a:ext cx="1600200" cy="292608"/>
          </a:xfrm>
          <a:prstGeom prst="rect">
            <a:avLst/>
          </a:prstGeom>
          <a:solidFill>
            <a:srgbClr val="3E20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22976" y="4617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A726"/>
                </a:solidFill>
              </a:rPr>
              <a:t>reminder_db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242048" y="4617720"/>
            <a:ext cx="1600200" cy="292608"/>
          </a:xfrm>
          <a:prstGeom prst="rect">
            <a:avLst/>
          </a:prstGeom>
          <a:solidFill>
            <a:srgbClr val="3E20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4617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A726"/>
                </a:solidFill>
              </a:rPr>
              <a:t>alert_db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Flow — User Login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19659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33272" y="822960"/>
            <a:ext cx="502920" cy="502920"/>
          </a:xfrm>
          <a:prstGeom prst="oval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822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DNS Lookup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7556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Browser queries Route 53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elderpinq.com → ALB IP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1572768"/>
            <a:ext cx="18288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822960"/>
            <a:ext cx="19659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822960"/>
            <a:ext cx="502920" cy="502920"/>
          </a:xfrm>
          <a:prstGeom prst="oval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822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13898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TLS Handshake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7556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ALB presents ACM cert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Encrypted HTTPS session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1572768"/>
            <a:ext cx="18288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822960"/>
            <a:ext cx="19659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30952" y="822960"/>
            <a:ext cx="502920" cy="502920"/>
          </a:xfrm>
          <a:prstGeom prst="oval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0952" y="822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13898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ALB Routes to UI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17556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Host: app.elderpinq.com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Forwards to ui-tg :8080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1572768"/>
            <a:ext cx="18288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822960"/>
            <a:ext cx="19659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79792" y="822960"/>
            <a:ext cx="502920" cy="502920"/>
          </a:xfrm>
          <a:prstGeom prst="oval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9792" y="822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13898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React App Loads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17556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nginx serves SPA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User sees login form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514600"/>
            <a:ext cx="19659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33272" y="2514600"/>
            <a:ext cx="502920" cy="502920"/>
          </a:xfrm>
          <a:prstGeom prst="oval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11480" y="3081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POST /api/auth/login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4472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nginx proxy → Internal ALB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Host: api.elderpinq.com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0" y="3264408"/>
            <a:ext cx="18288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2514600"/>
            <a:ext cx="19659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82112" y="2514600"/>
            <a:ext cx="502920" cy="502920"/>
          </a:xfrm>
          <a:prstGeom prst="oval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82112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560320" y="3081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Path Routing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60320" y="34472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/api/auth/* matches Rule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Forward to auth-tg :3001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34840" y="3264408"/>
            <a:ext cx="18288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2514600"/>
            <a:ext cx="19659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330952" y="2514600"/>
            <a:ext cx="502920" cy="502920"/>
          </a:xfrm>
          <a:prstGeom prst="oval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30952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09160" y="3081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Auth → RDS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34472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10.0.3.x → VPC Peering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→ RDS 172.31.32.x:5432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83680" y="3264408"/>
            <a:ext cx="18288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0" y="2514600"/>
            <a:ext cx="19659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79792" y="2514600"/>
            <a:ext cx="502920" cy="502920"/>
          </a:xfrm>
          <a:prstGeom prst="oval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79792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58000" y="3081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JWT Response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58000" y="34472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Token issued → nginx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→ ALB → HTTPS → Browser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2A5F5"/>
                </a:solidFill>
              </a:rPr>
              <a:t>Full round trip from browser to RDS and back typically completes in &lt; 100ms within the same AWS region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— Complete 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206240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04672"/>
            <a:ext cx="512064" cy="5120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9264" y="8595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A5F5"/>
                </a:solidFill>
              </a:rPr>
              <a:t>Phase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" y="10789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VPC, Subnets, IGW, NAT, Security Groups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00600" y="804672"/>
            <a:ext cx="4206240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804672"/>
            <a:ext cx="512064" cy="5120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04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04104" y="8595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A5F5"/>
                </a:solidFill>
              </a:rPr>
              <a:t>Phase 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04104" y="10789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Internet ALB + Internal ALB + 5 Target Groups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444752"/>
            <a:ext cx="4206240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444752"/>
            <a:ext cx="512064" cy="5120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444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9264" y="14996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A5F5"/>
                </a:solidFill>
              </a:rPr>
              <a:t>Phase 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9264" y="17190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Launch Template + UI ASG + Backend ASG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1444752"/>
            <a:ext cx="4206240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444752"/>
            <a:ext cx="512064" cy="5120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444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04104" y="14996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A5F5"/>
                </a:solidFill>
              </a:rPr>
              <a:t>Phase 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04104" y="17190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RDS PostgreSQL + VPC Peering + SSL fix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084832"/>
            <a:ext cx="4206240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084832"/>
            <a:ext cx="512064" cy="5120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9264" y="21396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A5F5"/>
                </a:solidFill>
              </a:rPr>
              <a:t>Phase 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9264" y="23591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CloudWatch Metrics, Logs, Alarms, Dashboard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2084832"/>
            <a:ext cx="4206240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084832"/>
            <a:ext cx="512064" cy="5120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04104" y="21396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A5F5"/>
                </a:solidFill>
              </a:rPr>
              <a:t>DNS/SSL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04104" y="23591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Route 53 + GoDaddy + ACM Certificate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2724912"/>
            <a:ext cx="4206240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2724912"/>
            <a:ext cx="512064" cy="5120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724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69264" y="27797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A5F5"/>
                </a:solidFill>
              </a:rPr>
              <a:t>Routing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69264" y="29992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Host-based + Path-based ALB rules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35478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A5F5"/>
                </a:solidFill>
              </a:rPr>
              <a:t>What's Next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0040" y="3931920"/>
            <a:ext cx="16002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931920"/>
            <a:ext cx="1600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041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CI/CD Pipeline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" y="43342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GitHub Actions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auto-deploy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039112" y="3931920"/>
            <a:ext cx="16002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39112" y="3931920"/>
            <a:ext cx="1600200" cy="7315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39112" y="4041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AWS WAF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039112" y="43342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DDoS + 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injection protection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58184" y="3931920"/>
            <a:ext cx="16002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58184" y="3931920"/>
            <a:ext cx="16002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58184" y="4041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CloudFront CDN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58184" y="43342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Global edge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caching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77256" y="3931920"/>
            <a:ext cx="16002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77256" y="3931920"/>
            <a:ext cx="160020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77256" y="4041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Secrets Manager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77256" y="43342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No creds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docker-compose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96328" y="3931920"/>
            <a:ext cx="16002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96328" y="3931920"/>
            <a:ext cx="1600200" cy="7315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96328" y="4041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ECS / EKS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196328" y="43342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Managed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containers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ElderPinq  |  AWS Production Architecture  | 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ElderPinq AWS Infrastructure</dc:title>
  <dc:subject>PptxGenJS Presentation</dc:subject>
  <dc:creator>PptxGenJS</dc:creator>
  <cp:lastModifiedBy>PptxGenJS</cp:lastModifiedBy>
  <cp:revision>1</cp:revision>
  <dcterms:created xsi:type="dcterms:W3CDTF">2026-05-26T02:43:55Z</dcterms:created>
  <dcterms:modified xsi:type="dcterms:W3CDTF">2026-05-26T02:43:55Z</dcterms:modified>
</cp:coreProperties>
</file>